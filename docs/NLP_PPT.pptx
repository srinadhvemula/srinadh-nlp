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6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31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4919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AD1C8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BERT-LS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Lexical Simplification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Encoders + Readability-Aware Grade Targeting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1828800" cy="3657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</a:t>
            </a: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"Lexical Simplification with Pretrained Encoders" — AAAI 2020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Text Accessibility · Deep Learning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251960"/>
            <a:ext cx="1234440" cy="292608"/>
          </a:xfrm>
          <a:prstGeom prst="rect">
            <a:avLst/>
          </a:prstGeom>
          <a:solidFill>
            <a:srgbClr val="14919B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2519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11680" y="4251960"/>
            <a:ext cx="1234440" cy="292608"/>
          </a:xfrm>
          <a:prstGeom prst="rect">
            <a:avLst/>
          </a:prstGeom>
          <a:solidFill>
            <a:srgbClr val="14919B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011680" y="42519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PPDB 2.0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83280" y="4251960"/>
            <a:ext cx="1234440" cy="292608"/>
          </a:xfrm>
          <a:prstGeom prst="rect">
            <a:avLst/>
          </a:prstGeom>
          <a:solidFill>
            <a:srgbClr val="14919B">
              <a:alpha val="3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42519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4251960"/>
            <a:ext cx="1234440" cy="292608"/>
          </a:xfrm>
          <a:prstGeom prst="rect">
            <a:avLst/>
          </a:prstGeom>
          <a:solidFill>
            <a:srgbClr val="14919B">
              <a:alpha val="3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42519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Textstat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4251960"/>
            <a:ext cx="1234440" cy="292608"/>
          </a:xfrm>
          <a:prstGeom prst="rect">
            <a:avLst/>
          </a:prstGeom>
          <a:solidFill>
            <a:srgbClr val="14919B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42519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Lexical Simplification?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91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Non-native speakers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with texts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51560"/>
            <a:ext cx="1920240" cy="54864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adults read below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grade 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515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exceed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levels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2697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physician administered the preliminary examination."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06324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6304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doctor conducted the preliminary test."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check if replacements match annotations — NOT if the text is actually easier to read.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Survey: Lexical Simplification Approaches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3383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Architecture-Based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Complexity Prediction (MLP)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Synonym Generation (thesaurus)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Synonym Selection (Word2Vec)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Sentence Ranking (perplexity)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pipeline · Partial context · External thesaurus required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05156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051560"/>
            <a:ext cx="73152" cy="33832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91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Approach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Mask the complex word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BERT predicts context-aware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replacements from full sentence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unsupervised · No rules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contextual prediction · Full bidirectional context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Survey: SIMPLEX vs BERT-LS — Detailed Comparison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429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Gen.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Thesaurus +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(may generate irrelevant)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LM — context-aware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(anchored to source word)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(Word2Vec / sentence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bidirectional 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(both left + right context)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+ cosine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(may miss deep meaning)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Multi-signal: BERT prob, LM,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sim,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Thesaurus + MLP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BERT model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(zero-shot)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Propagation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pipeline stages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forward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single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(Word2Vec)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(Transformers)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91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~12%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91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baselines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BERT-LS Outperforms SIMPLEX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28016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34440"/>
            <a:ext cx="365760" cy="365760"/>
          </a:xfrm>
          <a:prstGeom prst="ellipse">
            <a:avLst/>
          </a:prstGeom>
          <a:solidFill>
            <a:srgbClr val="14919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3075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Substitution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sentence context → better semantic fit. Bidirectional attention avoids incorrect synonyms.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64008" cy="12801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2" name="Shape 9"/>
          <p:cNvSpPr/>
          <p:nvPr/>
        </p:nvSpPr>
        <p:spPr>
          <a:xfrm>
            <a:off x="4983480" y="1234440"/>
            <a:ext cx="365760" cy="365760"/>
          </a:xfrm>
          <a:prstGeom prst="ellipse">
            <a:avLst/>
          </a:prstGeom>
          <a:solidFill>
            <a:srgbClr val="0D3B6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30759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Simplicity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thesaurus or complex pipeline. Reduces error propagation between stages.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56032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560320"/>
            <a:ext cx="64008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281635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Quality Candidates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LM probabilities. Ensures fluency + meaning preservation jointly.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56032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560320"/>
            <a:ext cx="64008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19"/>
          <p:cNvSpPr/>
          <p:nvPr/>
        </p:nvSpPr>
        <p:spPr>
          <a:xfrm>
            <a:off x="4983480" y="27432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28163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Generalization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corpora or handcrafted rules. Zero-shot — no fine-tuning on labeled data.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BERT-LS integrates context, semantics, and fluency in one model — selected as base architecture.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Five-Stage Pipeline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463040" cy="1508760"/>
          </a:xfrm>
          <a:prstGeom prst="rect">
            <a:avLst/>
          </a:prstGeom>
          <a:solidFill>
            <a:srgbClr val="14919B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325880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4063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WordPiece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NLTK Alignment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78308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D1C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057400" y="1234440"/>
            <a:ext cx="1463040" cy="1508760"/>
          </a:xfrm>
          <a:prstGeom prst="rect">
            <a:avLst/>
          </a:prstGeom>
          <a:solidFill>
            <a:srgbClr val="0D3B66">
              <a:alpha val="2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587752" y="1325880"/>
            <a:ext cx="402336" cy="402336"/>
          </a:xfrm>
          <a:prstGeom prst="ellipse">
            <a:avLst/>
          </a:prstGeom>
          <a:solidFill>
            <a:srgbClr val="0D3B6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219" y="140634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4884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Sequence Label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Heuristic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52044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D1C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794760" y="1234440"/>
            <a:ext cx="1463040" cy="1508760"/>
          </a:xfrm>
          <a:prstGeom prst="rect">
            <a:avLst/>
          </a:prstGeom>
          <a:solidFill>
            <a:srgbClr val="14919B">
              <a:alpha val="2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25112" y="1325880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579" y="1406347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47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CANDS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88620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Sentence-Pair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LM Top-80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25780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D1C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532120" y="1234440"/>
            <a:ext cx="1463040" cy="1508760"/>
          </a:xfrm>
          <a:prstGeom prst="rect">
            <a:avLst/>
          </a:prstGeom>
          <a:solidFill>
            <a:srgbClr val="0D3B66">
              <a:alpha val="2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6062472" y="1325880"/>
            <a:ext cx="402336" cy="402336"/>
          </a:xfrm>
          <a:prstGeom prst="ellipse">
            <a:avLst/>
          </a:prstGeom>
          <a:solidFill>
            <a:srgbClr val="0D3B6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939" y="1406347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PPDB AUGMENT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62356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Paraphrase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Lookup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99516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D1C8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269480" y="1234440"/>
            <a:ext cx="1463040" cy="1508760"/>
          </a:xfrm>
          <a:prstGeom prst="rect">
            <a:avLst/>
          </a:prstGeom>
          <a:solidFill>
            <a:srgbClr val="14919B">
              <a:alpha val="2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7799832" y="1325880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0299" y="1406347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694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FUSION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36092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5-Factor 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20040" y="2971800"/>
            <a:ext cx="8503920" cy="7315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320040" y="297180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28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WRAP — 6 readability formulas · Grade-level targeting · Iterative simplification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Operating Modes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029200" cy="8229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Wu-Palmer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FastText 300D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1 &amp; 2: Tokenization + Complex Word Identification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91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Tokenization &amp; Alignment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tokenizers needed: BERT uses WordPiece (subwords), NLTK produces whole words. Positions must be aligned.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Original:  "administered"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WordPiece: ["admin","##istered"]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Align: NLTK idx 1 → BERT [3,4]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function: _align_tokens() maps whole-word indices to BERT subword positions.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Filter — skip closed-class words: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DT, IN, CC, PRP, TO, MD → never simplified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CWI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TF Sequence Labeler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gpu_attention.model (62.9 MB)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Per-word complexity score ∈ [0,1]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≥ 0.45 → complex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Frequency Heuristic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743200"/>
            <a:ext cx="356616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788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=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0.50 × (1 − zipf/7.0)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0.25 × (word_len/15.0)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0.25 × (syllables/5.0)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Rarer, longer, more syllables = more complex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BERT Candidate Generation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463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MLM (context-blind)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 The physician [MASK] the exam. [SEP]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generates plausible completions, not necessarily related to the target word.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1463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BERT-LS Sentence-Pair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 physician [MASK] exam [SEP]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physician administered exam [SEP]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gets context AND source word identity → semantically related predictions.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D1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Extraction 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880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target with [MASK], build segment IDs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172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BertForMaskedLM → softmax over 30,522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655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4655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top-80 predictions by logit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75818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581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remove subword tokens (##ed, ##tion)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507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050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remove same-stem candidates (Porter)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343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Top-10 contextually appropriate synonyms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D1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Quality Comparison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880360"/>
          <a:ext cx="3200400" cy="1325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medical, health...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gave, failed...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Sentence-Pair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gave, conducted,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Cache: 256 entries — repeated queries return instantly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4 &amp; 5: PPDB Augmentation + Weighted Rank Fusion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96596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91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PPDB Augmentation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PPDB 2.0: 300M paraphrase pairs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flat file → 299 MB SQLite (40× reduction)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by (lemma, POS), AGigaSim ≥ 0.6 filter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time: &lt; 100ms per lookup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BERT candidates → union, deduplicated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965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Rank Fusion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453896"/>
            <a:ext cx="1645920" cy="1828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417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709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Fluency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1746504"/>
            <a:ext cx="1316736" cy="1828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7" name="Text 15"/>
          <p:cNvSpPr/>
          <p:nvPr/>
        </p:nvSpPr>
        <p:spPr>
          <a:xfrm>
            <a:off x="7763256" y="17099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2002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Rank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2039112"/>
            <a:ext cx="1097280" cy="1828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2002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877824" cy="1828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23" name="Text 21"/>
          <p:cNvSpPr/>
          <p:nvPr/>
        </p:nvSpPr>
        <p:spPr>
          <a:xfrm>
            <a:off x="7324344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PPDB Quality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624328"/>
            <a:ext cx="548640" cy="1828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2587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Guard (before final selection)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Antonym rejection (WordNet bidirectional)    </a:t>
            </a: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Wu-Palmer ≥ 0.55 threshold    </a:t>
            </a: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Synset exception → accept unconditionally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Morphological Post-processing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selected candidate to source word's form: past tense (irregular lookup), progressive (-ing), 3rd person (-s/-es), plural, comparative/superlative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Workflow Trace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498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physician administered the preliminary examination."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0D3B66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physician (0.67) ✓  |  administered (0.74) ✓  |  preliminary (0.72) ✓  |  examination (0.63) 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14919B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physician → [doctor, surgeon, nurse...]  |  administered → [gave, conducted, performed...]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0D3B6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physician + [medic, practitioner]  |  administered + [carried out, delivered, directed]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14919B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physician → doctor (WP=1.0 ✓)  |  administered → gave (WP=0.67 ✓)  |  preliminary → first  |  examination → 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doctor gave the first test."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items)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51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91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 items)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BenchLS Sample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items)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Test — Category Breakdown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297680" cy="18105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Preservation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WordNet Semantic Guard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Auto-Simplification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Morphological Preservation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BenchLS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76072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Characteristics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2697480"/>
            <a:ext cx="29260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startup (lite)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63524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 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2990088"/>
            <a:ext cx="2926080" cy="27432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20" name="Text 17"/>
          <p:cNvSpPr/>
          <p:nvPr/>
        </p:nvSpPr>
        <p:spPr>
          <a:xfrm>
            <a:off x="580644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Per-word simplification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635240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60720" y="3282696"/>
            <a:ext cx="29260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580644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PPDB SQLite query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635240" y="3282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 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760720" y="3575304"/>
            <a:ext cx="2926080" cy="27432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26" name="Text 23"/>
          <p:cNvSpPr/>
          <p:nvPr/>
        </p:nvSpPr>
        <p:spPr>
          <a:xfrm>
            <a:off x="5806440" y="3575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guard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35240" y="3575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 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60720" y="3867912"/>
            <a:ext cx="29260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5806440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(lite)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3867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~870 MB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60720" y="4160520"/>
            <a:ext cx="2926080" cy="27432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32" name="Text 29"/>
          <p:cNvSpPr/>
          <p:nvPr/>
        </p:nvSpPr>
        <p:spPr>
          <a:xfrm>
            <a:off x="58064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(full)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63524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GB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Failure Analysis &amp;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Past-Tense Morphology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administered → took (wrong form)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PAST_FORMS check occurs after inflection rules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check to start of _match_morphology()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 failures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Double-Inflection Bug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procured → eatenned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"eaten" (already inflected) gets -ed added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Pre-check PAST_FORMS before inflection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 failure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97480"/>
            <a:ext cx="39319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Drift (Lite Mode)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perils → places (semantically wrong)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Wu-Palmer measures taxonomic, not distributional similarity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full mode (FastText cosine)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failures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6974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97480"/>
            <a:ext cx="3931920" cy="457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CWI TensorFlow Compatibility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gpu_attention.model uses TF 1.x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tf.placeholder() removed in TF 2.x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tf.compat.v1 or retrain in PyTorch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heuristic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Readability-Aware Simplification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54864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24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Flesch-Kincaid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0–18+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len + syl/word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54864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24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SMOG Index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polysyllabic count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54864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24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chars/word + words/sent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2606040" cy="54864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709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Coleman-Liau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words, sents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1691640"/>
            <a:ext cx="2606040" cy="54864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709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Dale-Chall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4.9–10+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word list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1691640"/>
            <a:ext cx="2606040" cy="548640"/>
          </a:xfrm>
          <a:prstGeom prst="rect">
            <a:avLst/>
          </a:prstGeom>
          <a:solidFill>
            <a:srgbClr val="14919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709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Ease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(↑ easier)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sent/syl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Grade = mean(FK + SMOG + ARI + Coleman-Liau)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D1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/ After Example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3931920" cy="12070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Flesch 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D1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303520" y="3108960"/>
            <a:ext cx="3383280" cy="1417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39496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14.0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67512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94944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8.9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39496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→ High School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−5.1 grade levels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9496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physician→doctor, administered→gave,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deliberated→discussed, contentious→controversial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Innovation: Three Additional Technical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9144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70432"/>
            <a:ext cx="502920" cy="50292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097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91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Sentence-Pair BERT 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4173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BERT both masked + original sentence. Candidates conditioned on context AND source word identity. Zero-shot — no fine-tuning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64008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67712"/>
            <a:ext cx="502920" cy="502920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2194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Asymmetric Weighted Rank Fusion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514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tuned: Semantic Sim (1.5) &gt; LM Fluency (1.2) &gt; BERT Rank (1.0) &gt; Frequency (0.8) &gt; PPDB (0.5). Meaning preservation dominates over raw BERT ranking.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36499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3291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SQLite-Optimized PPDB Database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36118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flat file → 299 MB SQLite (40× reduction). O(n) linear scan → O(log n) indexed. RAM: 12 GB → ~50 MB memory-mapped. Practical on commodity hardware.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616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innovations extend the original BERT-LS paper with practical, measurable improvements.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4919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D1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Achieved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 vs BERT-LS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 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4356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Web UI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endpoints, 3 modes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4356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PPDB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→ 299 MB (40×)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172821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Extension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formulas, grade targeting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72821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smoke, 86.7% accuracy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8229600" cy="45720"/>
          </a:xfrm>
          <a:prstGeom prst="rect">
            <a:avLst/>
          </a:prstGeom>
          <a:solidFill>
            <a:srgbClr val="14919B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Contributions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2606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Sentence-Pair BERT Input — zero-shot context + source word conditioning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880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Asymmetric Rank Fusion — prioritizes meaning preservation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154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Readability-Aware Loop — first LS system with iterative grade targeting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429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SQLite PPDB — 40× memory reduction for commodity hardware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D1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Fix irregular verb morphology (+2% accuracy)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Port CWI to TF2/PyTorch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GPU deployment (&lt;1s/word)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mBERT/XLM-R for multilingual support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459028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"Simplification is not about dumbing down — it is about widening access."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1791</Words>
  <Application>Microsoft Office PowerPoint</Application>
  <PresentationFormat>On-screen Show (16:9)</PresentationFormat>
  <Paragraphs>417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BERT-LS: Context-Aware Lexical Simplification</dc:title>
  <dc:subject>PptxGenJS Presentation</dc:subject>
  <dc:creator>Gadupudi</dc:creator>
  <cp:lastModifiedBy>GADUPUDI RAKESH</cp:lastModifiedBy>
  <cp:revision>2</cp:revision>
  <dcterms:created xsi:type="dcterms:W3CDTF">2026-04-09T09:22:46Z</dcterms:created>
  <dcterms:modified xsi:type="dcterms:W3CDTF">2026-04-13T04:53:18Z</dcterms:modified>
</cp:coreProperties>
</file>